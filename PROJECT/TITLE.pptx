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53" r:id="rId5"/>
    <p:sldId id="329" r:id="rId6"/>
    <p:sldId id="354" r:id="rId7"/>
    <p:sldId id="331" r:id="rId8"/>
    <p:sldId id="345" r:id="rId9"/>
    <p:sldId id="355" r:id="rId10"/>
    <p:sldId id="347" r:id="rId11"/>
    <p:sldId id="348" r:id="rId12"/>
    <p:sldId id="349" r:id="rId13"/>
    <p:sldId id="350" r:id="rId14"/>
    <p:sldId id="351" r:id="rId15"/>
    <p:sldId id="357" r:id="rId16"/>
    <p:sldId id="358" r:id="rId17"/>
    <p:sldId id="359" r:id="rId18"/>
    <p:sldId id="360" r:id="rId19"/>
    <p:sldId id="361" r:id="rId20"/>
    <p:sldId id="35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791730-0ACA-4278-94C1-CC8ED5BA6F8A}">
          <p14:sldIdLst>
            <p14:sldId id="353"/>
            <p14:sldId id="329"/>
            <p14:sldId id="354"/>
            <p14:sldId id="331"/>
            <p14:sldId id="345"/>
            <p14:sldId id="355"/>
            <p14:sldId id="347"/>
            <p14:sldId id="348"/>
            <p14:sldId id="349"/>
          </p14:sldIdLst>
        </p14:section>
        <p14:section name="Untitled Section" id="{996405F2-AA9E-49E9-94A0-3EC7EFF34C10}">
          <p14:sldIdLst>
            <p14:sldId id="350"/>
            <p14:sldId id="351"/>
            <p14:sldId id="357"/>
            <p14:sldId id="358"/>
            <p14:sldId id="359"/>
            <p14:sldId id="360"/>
            <p14:sldId id="361"/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7D9"/>
    <a:srgbClr val="93D3D9"/>
    <a:srgbClr val="AAD6FF"/>
    <a:srgbClr val="B2C8CD"/>
    <a:srgbClr val="CCD8D6"/>
    <a:srgbClr val="4F5945"/>
    <a:srgbClr val="73292A"/>
    <a:srgbClr val="7F867A"/>
    <a:srgbClr val="A65B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966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278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9852A6-C536-198B-0B36-808C24FAAF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0B29C-E84A-E4D1-8998-1A961EC23B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AE42-7DC1-8140-9B13-146984FDEF22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E4DE7-ED89-D264-F004-38F2DF4879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E8591-FF54-5A00-A703-95ABC16B78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69B77-94AB-0344-9EBF-9DB9EE8D3A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5974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75F72-8950-AF4F-9381-1D26FB547EA1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5476F-A808-1F46-A368-07984F6DA2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25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9107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519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A71AB-D491-07FD-D8AC-8C918A566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CC113-B308-8EC8-D16A-593381E3A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6E573-7A14-66D5-9D9E-A6903E09F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E67EE-BC6F-3AFC-4A29-05603249E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5476F-A808-1F46-A368-07984F6DA22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145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D90036E-D78E-7995-BEF4-F64DA613C7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463040"/>
            <a:ext cx="6327648" cy="2180543"/>
          </a:xfrm>
          <a:noFill/>
        </p:spPr>
        <p:txBody>
          <a:bodyPr anchor="b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096" y="3995928"/>
            <a:ext cx="5321808" cy="824404"/>
          </a:xfrm>
          <a:noFill/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48" y="530352"/>
            <a:ext cx="5385816" cy="1810512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17445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Content Placeholder 5">
            <a:extLst>
              <a:ext uri="{FF2B5EF4-FFF2-40B4-BE49-F238E27FC236}">
                <a16:creationId xmlns:a16="http://schemas.microsoft.com/office/drawing/2014/main" id="{9BEB2D80-6263-5794-6A1A-CFF345F7A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9048" y="2962656"/>
            <a:ext cx="5385816" cy="27066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Clr>
                <a:srgbClr val="73292A"/>
              </a:buClr>
              <a:buNone/>
              <a:defRPr sz="2400"/>
            </a:lvl1pPr>
            <a:lvl2pPr marL="228600">
              <a:buClr>
                <a:srgbClr val="73292A"/>
              </a:buClr>
              <a:defRPr sz="2000"/>
            </a:lvl2pPr>
            <a:lvl3pPr marL="685800">
              <a:buClr>
                <a:srgbClr val="73292A"/>
              </a:buClr>
              <a:defRPr sz="1800"/>
            </a:lvl3pPr>
            <a:lvl4pPr marL="1143000">
              <a:buClr>
                <a:srgbClr val="73292A"/>
              </a:buClr>
              <a:defRPr sz="1600"/>
            </a:lvl4pPr>
            <a:lvl5pPr marL="1600200">
              <a:buClr>
                <a:srgbClr val="73292A"/>
              </a:buCl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4928" y="6356350"/>
            <a:ext cx="71628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F8C32-80F8-F614-8280-02F76781F238}"/>
              </a:ext>
            </a:extLst>
          </p:cNvPr>
          <p:cNvSpPr/>
          <p:nvPr userDrawn="1"/>
        </p:nvSpPr>
        <p:spPr>
          <a:xfrm>
            <a:off x="5174459" y="0"/>
            <a:ext cx="4571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CB607F-27CE-D613-F812-E70C738FA0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723"/>
          <a:stretch/>
        </p:blipFill>
        <p:spPr>
          <a:xfrm>
            <a:off x="9959711" y="738051"/>
            <a:ext cx="2232289" cy="538189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689F60-3D32-FD74-24A9-266643081E85}"/>
              </a:ext>
            </a:extLst>
          </p:cNvPr>
          <p:cNvCxnSpPr>
            <a:cxnSpLocks/>
          </p:cNvCxnSpPr>
          <p:nvPr userDrawn="1"/>
        </p:nvCxnSpPr>
        <p:spPr>
          <a:xfrm>
            <a:off x="6189979" y="2649682"/>
            <a:ext cx="332598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B827D708-B036-EE04-B213-EC3EAAE0681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29920" y="2509197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80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1912" y="2185416"/>
            <a:ext cx="9052560" cy="2487168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F691F67-3A33-EA2C-967A-86934DA1D4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9401" b="24659"/>
          <a:stretch/>
        </p:blipFill>
        <p:spPr>
          <a:xfrm>
            <a:off x="5856445" y="726334"/>
            <a:ext cx="1898043" cy="54053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722376"/>
            <a:ext cx="6419088" cy="2350008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6B0D1AB-E9D6-841F-7178-F60F07AF3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3931920"/>
            <a:ext cx="6419088" cy="1389888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B3132E8-A261-CEAB-129F-0FED7AD8D0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54488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41B1E5-0891-6540-C6C6-2E4CF929E2D5}"/>
              </a:ext>
            </a:extLst>
          </p:cNvPr>
          <p:cNvCxnSpPr>
            <a:cxnSpLocks/>
          </p:cNvCxnSpPr>
          <p:nvPr userDrawn="1"/>
        </p:nvCxnSpPr>
        <p:spPr>
          <a:xfrm>
            <a:off x="1679972" y="3432325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2CA6CDBD-54C9-2154-A4D6-F432B3CF27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3169" y="3291840"/>
            <a:ext cx="972078" cy="28538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7541814-983F-1B1C-1D5D-EBAC0D9BEB4C}"/>
              </a:ext>
            </a:extLst>
          </p:cNvPr>
          <p:cNvSpPr/>
          <p:nvPr userDrawn="1"/>
        </p:nvSpPr>
        <p:spPr>
          <a:xfrm>
            <a:off x="7711438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7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D338C08-B5A9-DA78-1FE4-12BEFEB6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136" t="6121"/>
          <a:stretch/>
        </p:blipFill>
        <p:spPr>
          <a:xfrm rot="16200000" flipH="1" flipV="1">
            <a:off x="7528785" y="-1437953"/>
            <a:ext cx="3225262" cy="61011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0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30C4EDD-E959-BB97-7574-864A6EDFD3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602251" y="4944272"/>
            <a:ext cx="3848748" cy="1913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724144" y="1536192"/>
            <a:ext cx="5696712" cy="3758184"/>
          </a:xfrm>
        </p:spPr>
        <p:txBody>
          <a:bodyPr/>
          <a:lstStyle>
            <a:lvl1pPr>
              <a:spcAft>
                <a:spcPts val="600"/>
              </a:spcAft>
              <a:buClr>
                <a:schemeClr val="accent2"/>
              </a:buClr>
              <a:defRPr sz="22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724144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7048F4-9454-D035-3356-DD623DFCEE42}"/>
              </a:ext>
            </a:extLst>
          </p:cNvPr>
          <p:cNvSpPr/>
          <p:nvPr userDrawn="1"/>
        </p:nvSpPr>
        <p:spPr>
          <a:xfrm rot="5400000">
            <a:off x="1361771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42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2276856"/>
            <a:ext cx="9144000" cy="1508760"/>
          </a:xfrm>
          <a:noFill/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841248"/>
          </a:xfrm>
          <a:noFill/>
        </p:spPr>
        <p:txBody>
          <a:bodyPr anchor="t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1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84264" y="2523744"/>
            <a:ext cx="4864608" cy="3694176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9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7F52C37-6A33-FD57-31EC-516F581DF1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420" b="36176"/>
          <a:stretch/>
        </p:blipFill>
        <p:spPr>
          <a:xfrm>
            <a:off x="0" y="2510651"/>
            <a:ext cx="2841744" cy="43473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7397496" y="0"/>
            <a:ext cx="47909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1584" y="1408176"/>
            <a:ext cx="3392424" cy="40142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685800"/>
            <a:ext cx="5276088" cy="1563624"/>
          </a:xfrm>
        </p:spPr>
        <p:txBody>
          <a:bodyPr>
            <a:noAutofit/>
          </a:bodyPr>
          <a:lstStyle>
            <a:lvl1pPr marL="457200" indent="-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+mj-lt"/>
              <a:buAutoNum type="arabicPeriod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914400" indent="-457200">
              <a:buClr>
                <a:schemeClr val="accent2"/>
              </a:buClr>
              <a:buFont typeface="+mj-lt"/>
              <a:buAutoNum type="alphaLcPeriod"/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371600" indent="-457200">
              <a:buClr>
                <a:schemeClr val="accent2"/>
              </a:buClr>
              <a:buFont typeface="+mj-lt"/>
              <a:buAutoNum type="romanLcPeriod"/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714500" indent="-342900">
              <a:buClr>
                <a:schemeClr val="accent2"/>
              </a:buClr>
              <a:buFont typeface="+mj-lt"/>
              <a:buAutoNum type="arabicParenR"/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171700" indent="-342900">
              <a:buClr>
                <a:schemeClr val="accent2"/>
              </a:buClr>
              <a:buFont typeface="+mj-lt"/>
              <a:buAutoNum type="alphaLcParenR"/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C526101-2775-A309-0B4A-DB278C397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32688" y="2697480"/>
            <a:ext cx="5276088" cy="348386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5719EF3-43BC-5F74-7396-273F72ED3C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2292"/>
          <a:stretch/>
        </p:blipFill>
        <p:spPr>
          <a:xfrm>
            <a:off x="8001534" y="4944272"/>
            <a:ext cx="3848748" cy="19137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37D205C-32E5-5A54-8D89-CB56198B06E5}"/>
              </a:ext>
            </a:extLst>
          </p:cNvPr>
          <p:cNvSpPr/>
          <p:nvPr userDrawn="1"/>
        </p:nvSpPr>
        <p:spPr>
          <a:xfrm rot="5400000">
            <a:off x="3949200" y="3406143"/>
            <a:ext cx="6857999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8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516D97AE-EB24-C3DA-21A1-E8EE4631AC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18" r="47395" b="22709"/>
          <a:stretch/>
        </p:blipFill>
        <p:spPr>
          <a:xfrm flipH="1">
            <a:off x="4448831" y="805912"/>
            <a:ext cx="1464735" cy="49614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BF43B9-3946-05E6-521F-EE4BB59B49D0}"/>
              </a:ext>
            </a:extLst>
          </p:cNvPr>
          <p:cNvSpPr/>
          <p:nvPr userDrawn="1"/>
        </p:nvSpPr>
        <p:spPr>
          <a:xfrm>
            <a:off x="4434840" y="0"/>
            <a:ext cx="45719" cy="6858000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14DEF57-E0D6-D7CA-5D3C-FC97EAB06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792" y="557784"/>
            <a:ext cx="6419088" cy="1929384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930B4666-31C5-1F2B-27D9-2A9F6EC970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4344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193792" y="3328416"/>
            <a:ext cx="6419088" cy="2441448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algn="ctr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2pPr>
            <a:lvl3pPr algn="ctr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3pPr>
            <a:lvl4pPr algn="ctr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4pPr>
            <a:lvl5pPr algn="ctr">
              <a:buClr>
                <a:schemeClr val="accent2"/>
              </a:buClr>
              <a:defRPr sz="14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193792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9EEBF9-800C-88AE-FE83-60B5F47AFC14}"/>
              </a:ext>
            </a:extLst>
          </p:cNvPr>
          <p:cNvCxnSpPr>
            <a:cxnSpLocks/>
          </p:cNvCxnSpPr>
          <p:nvPr userDrawn="1"/>
        </p:nvCxnSpPr>
        <p:spPr>
          <a:xfrm>
            <a:off x="6174481" y="2843389"/>
            <a:ext cx="437642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301D77B6-9ED1-094C-66A3-7D5AB0CDEA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14042" y="2702904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4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770632"/>
            <a:ext cx="2487168" cy="3502152"/>
          </a:xfrm>
        </p:spPr>
        <p:txBody>
          <a:bodyPr lIns="91440" rIns="91440"/>
          <a:lstStyle>
            <a:lvl1pPr marL="0" indent="0">
              <a:spcAft>
                <a:spcPts val="120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85616" y="2770632"/>
            <a:ext cx="7571232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990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DBC944E-6F68-C409-3596-8B6F50E09B9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2432304"/>
            <a:ext cx="6163056" cy="3739896"/>
          </a:xfrm>
        </p:spPr>
        <p:txBody>
          <a:bodyPr lIns="91440" rIns="91440"/>
          <a:lstStyle>
            <a:lvl1pPr marL="228600" indent="-228600"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685800">
              <a:spcBef>
                <a:spcPts val="5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11430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6002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20574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4928" y="2441448"/>
            <a:ext cx="4169664" cy="3703320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EB1C5A3-22FF-382D-3801-B6D9C4AC53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52051"/>
          <a:stretch/>
        </p:blipFill>
        <p:spPr>
          <a:xfrm>
            <a:off x="4629335" y="1815780"/>
            <a:ext cx="5586493" cy="504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676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6865A83-7754-90AF-ABA5-0759C2C74767}"/>
              </a:ext>
            </a:extLst>
          </p:cNvPr>
          <p:cNvSpPr/>
          <p:nvPr userDrawn="1"/>
        </p:nvSpPr>
        <p:spPr>
          <a:xfrm>
            <a:off x="-1" y="0"/>
            <a:ext cx="12188952" cy="20482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0998D-17F5-CC68-2E37-9789F050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88" y="228600"/>
            <a:ext cx="9528048" cy="1600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450D1A9C-4404-2909-F0C4-B7571474C9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770632"/>
            <a:ext cx="10515600" cy="3392424"/>
          </a:xfrm>
        </p:spPr>
        <p:txBody>
          <a:bodyPr/>
          <a:lstStyle>
            <a:lvl1pPr marL="0" indent="0">
              <a:spcAft>
                <a:spcPts val="0"/>
              </a:spcAft>
              <a:buClr>
                <a:schemeClr val="accent2"/>
              </a:buClr>
              <a:buNone/>
              <a:defRPr sz="2400">
                <a:solidFill>
                  <a:schemeClr val="tx2">
                    <a:lumMod val="25000"/>
                  </a:schemeClr>
                </a:solidFill>
              </a:defRPr>
            </a:lvl1pPr>
            <a:lvl2pPr marL="228600">
              <a:spcBef>
                <a:spcPts val="1000"/>
              </a:spcBef>
              <a:buClr>
                <a:schemeClr val="accent2"/>
              </a:buClr>
              <a:defRPr sz="2400">
                <a:solidFill>
                  <a:schemeClr val="tx2">
                    <a:lumMod val="25000"/>
                  </a:schemeClr>
                </a:solidFill>
              </a:defRPr>
            </a:lvl2pPr>
            <a:lvl3pPr marL="685800">
              <a:buClr>
                <a:schemeClr val="accent2"/>
              </a:buClr>
              <a:defRPr sz="2000">
                <a:solidFill>
                  <a:schemeClr val="tx2">
                    <a:lumMod val="25000"/>
                  </a:schemeClr>
                </a:solidFill>
              </a:defRPr>
            </a:lvl3pPr>
            <a:lvl4pPr marL="1143000">
              <a:buClr>
                <a:schemeClr val="accent2"/>
              </a:buClr>
              <a:defRPr sz="1800">
                <a:solidFill>
                  <a:schemeClr val="tx2">
                    <a:lumMod val="25000"/>
                  </a:schemeClr>
                </a:solidFill>
              </a:defRPr>
            </a:lvl4pPr>
            <a:lvl5pPr marL="1600200">
              <a:buClr>
                <a:schemeClr val="accent2"/>
              </a:buClr>
              <a:defRPr sz="1600">
                <a:solidFill>
                  <a:schemeClr val="tx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E570D-F390-097A-83FE-FB9C9CD92E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19F3A-839F-70D5-1136-F47387FBF6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635996" y="6356350"/>
            <a:ext cx="784860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885D14-9B48-E0B1-43FF-B19F5005FD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2292"/>
          <a:stretch/>
        </p:blipFill>
        <p:spPr>
          <a:xfrm>
            <a:off x="8472405" y="132047"/>
            <a:ext cx="3848748" cy="191372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D7ECFC8-50F2-4F2A-960A-F4F79E198620}"/>
              </a:ext>
            </a:extLst>
          </p:cNvPr>
          <p:cNvSpPr/>
          <p:nvPr userDrawn="1"/>
        </p:nvSpPr>
        <p:spPr>
          <a:xfrm>
            <a:off x="0" y="2022420"/>
            <a:ext cx="12192000" cy="4571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999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8B802A0-174F-ED42-DB3C-30B25D7D20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682FAF-43FC-D4B4-4D6A-E5D70198C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7632" y="822960"/>
            <a:ext cx="6327648" cy="2221992"/>
          </a:xfrm>
          <a:noFill/>
        </p:spPr>
        <p:txBody>
          <a:bodyPr anchor="b">
            <a:no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B724EDC-0FF4-BC78-C7CF-5B31189CB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3428999"/>
            <a:ext cx="6309360" cy="1703439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0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6140" y="6356350"/>
            <a:ext cx="784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76" r:id="rId4"/>
    <p:sldLayoutId id="2147483678" r:id="rId5"/>
    <p:sldLayoutId id="2147483684" r:id="rId6"/>
    <p:sldLayoutId id="2147483677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bouquet of flowers">
            <a:extLst>
              <a:ext uri="{FF2B5EF4-FFF2-40B4-BE49-F238E27FC236}">
                <a16:creationId xmlns:a16="http://schemas.microsoft.com/office/drawing/2014/main" id="{2E09DD34-43D4-3713-535D-7E9D95D3F4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F9772E4-10E9-13DE-8AE8-35BBB9DD1D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7C09E8F-C241-2F75-70EA-32EC69551E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Firos Muhammed Iliyas​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318DF20-A4C4-3800-A69E-4E11F5A11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15117" y="3822700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laque 12">
            <a:extLst>
              <a:ext uri="{FF2B5EF4-FFF2-40B4-BE49-F238E27FC236}">
                <a16:creationId xmlns:a16="http://schemas.microsoft.com/office/drawing/2014/main" id="{AC9EB422-5602-36FF-E543-5B0C70E56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84867" y="1269576"/>
            <a:ext cx="6781800" cy="4343824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053B63A-99EB-DBC1-DE80-E5E5214E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9728" y="368187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59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Guided By</a:t>
            </a:r>
          </a:p>
        </p:txBody>
      </p:sp>
      <p:pic>
        <p:nvPicPr>
          <p:cNvPr id="12" name="Picture Placeholder 11" descr="A close up of white and pink flowers">
            <a:extLst>
              <a:ext uri="{FF2B5EF4-FFF2-40B4-BE49-F238E27FC236}">
                <a16:creationId xmlns:a16="http://schemas.microsoft.com/office/drawing/2014/main" id="{638025BA-3E49-3EFD-417E-955B4B95B2B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" b="24"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Miss Sheena K M</a:t>
            </a:r>
          </a:p>
          <a:p>
            <a:r>
              <a:rPr lang="en-US" dirty="0"/>
              <a:t>MCA Department </a:t>
            </a:r>
          </a:p>
          <a:p>
            <a:r>
              <a:rPr lang="en-US" dirty="0" err="1"/>
              <a:t>Ilahia</a:t>
            </a:r>
            <a:r>
              <a:rPr lang="en-US" dirty="0"/>
              <a:t> College of engineering  &amp; Technology</a:t>
            </a:r>
          </a:p>
          <a:p>
            <a:r>
              <a:rPr lang="en-US" dirty="0" err="1"/>
              <a:t>Muvattupuzha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2A7C2-1D63-EFD6-869B-2F167F96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59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4" descr="A bouquet of flowers">
            <a:extLst>
              <a:ext uri="{FF2B5EF4-FFF2-40B4-BE49-F238E27FC236}">
                <a16:creationId xmlns:a16="http://schemas.microsoft.com/office/drawing/2014/main" id="{D34D75C6-A35A-52D3-B03F-61494B858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25" r="25"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9C3427B2-C457-FC4C-BA04-44EF586F3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</a:t>
            </a:r>
            <a:br>
              <a:rPr lang="en-US" dirty="0"/>
            </a:br>
            <a:r>
              <a:rPr lang="en-US" dirty="0"/>
              <a:t>SEAT ARRANGER</a:t>
            </a:r>
            <a:br>
              <a:rPr lang="en-US" dirty="0"/>
            </a:br>
            <a:r>
              <a:rPr lang="en-US" sz="1800" dirty="0"/>
              <a:t>PYTHON- DJANGO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9C8D8B-2E15-875B-08A8-28C5524EF69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56350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4F408-30BE-5DC2-806D-A217DB0281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356350"/>
            <a:ext cx="784225" cy="365125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Plaque 10">
            <a:extLst>
              <a:ext uri="{FF2B5EF4-FFF2-40B4-BE49-F238E27FC236}">
                <a16:creationId xmlns:a16="http://schemas.microsoft.com/office/drawing/2014/main" id="{95E724B3-E95F-E150-E7F9-1C3F634EF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2854" y="1782305"/>
            <a:ext cx="9546956" cy="3270142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FEC193-4F90-6CAE-6259-21C8B6A84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561" y="4925255"/>
            <a:ext cx="972078" cy="2853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119B25-42CB-340B-ACB4-22178DF12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608561" y="1624116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48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9" name="Picture Placeholder 5" descr="A group of orange flowers">
            <a:extLst>
              <a:ext uri="{FF2B5EF4-FFF2-40B4-BE49-F238E27FC236}">
                <a16:creationId xmlns:a16="http://schemas.microsoft.com/office/drawing/2014/main" id="{B0E612D5-D631-0C31-BE9E-28739243329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501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" b="24"/>
          <a:stretch/>
        </p:blipFill>
        <p:spPr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541873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Exam Seat Arranger is a web-based application developed using Python and Django, aimed at automating the process of allocating exam seats for students from different departments. </a:t>
            </a:r>
          </a:p>
          <a:p>
            <a:r>
              <a:rPr lang="en-US" dirty="0"/>
              <a:t>The system is designed to help faculty efficiently organize students in various classrooms and benches, ensuring fairness and order during examinations.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8EC13-CC66-14BE-C305-D90EB840C4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424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bouquet of flowers">
            <a:extLst>
              <a:ext uri="{FF2B5EF4-FFF2-40B4-BE49-F238E27FC236}">
                <a16:creationId xmlns:a16="http://schemas.microsoft.com/office/drawing/2014/main" id="{82C0F469-9EA6-0942-67ED-8D4851C74BF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9000"/>
                    </a14:imgEffect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832"/>
            <a:ext cx="12192000" cy="6858000"/>
          </a:xfrm>
          <a:solidFill>
            <a:schemeClr val="bg1">
              <a:lumMod val="95000"/>
            </a:schemeClr>
          </a:solidFill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DF951822-544C-11FC-36D3-F53CE376B9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12" name="Plaque 11">
            <a:extLst>
              <a:ext uri="{FF2B5EF4-FFF2-40B4-BE49-F238E27FC236}">
                <a16:creationId xmlns:a16="http://schemas.microsoft.com/office/drawing/2014/main" id="{F6C1C551-67AC-029A-A3FE-5521A1CD6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2854" y="1782305"/>
            <a:ext cx="9546956" cy="3270142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7F1579-738B-D9DF-6A9B-98AB5F50D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33949" y="3605726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96736DE-5AE2-4B04-69F4-474224408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560" y="3464902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177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270AC-601F-D537-3460-3FE09CC6A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593D07-3857-8A04-606E-258D1E9908D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7" y="2523744"/>
            <a:ext cx="10384241" cy="369417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process of manually arranging exam seating for students from multiple departments is often </a:t>
            </a:r>
            <a:r>
              <a:rPr lang="en-US" b="1" u="sng" dirty="0"/>
              <a:t>time-consuming, error-prone, and difficult to manage.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Faculty members face challenges in ensuring that students are seated in a fair and systematic manner, especially when avoiding placing students of the same department together.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traditional approach not only increases workload but also risks mismanagement during examinations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BB6B2-ED6A-BB7C-2FF7-FB65908901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690554" y="2395926"/>
            <a:ext cx="49162" cy="127818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6466F-9F24-C34E-BBA6-2CB9430552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333703" y="6449961"/>
            <a:ext cx="1087153" cy="27151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3343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443C06-A530-329A-9ECC-3E0484827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D45388B-F6C6-3BAE-BC81-AD233BEC858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1265903"/>
            <a:ext cx="5276088" cy="1563624"/>
          </a:xfrm>
        </p:spPr>
        <p:txBody>
          <a:bodyPr/>
          <a:lstStyle/>
          <a:p>
            <a:r>
              <a:rPr lang="en-IN" sz="2800" dirty="0"/>
              <a:t>Automate Seat Allocation</a:t>
            </a:r>
          </a:p>
          <a:p>
            <a:r>
              <a:rPr lang="en-IN" sz="2800" dirty="0"/>
              <a:t>Ensure Fairness in Seating</a:t>
            </a:r>
          </a:p>
          <a:p>
            <a:r>
              <a:rPr lang="en-IN" sz="2800" dirty="0"/>
              <a:t>Improve Efficiency for Faculty</a:t>
            </a:r>
          </a:p>
          <a:p>
            <a:r>
              <a:rPr lang="en-IN" sz="2800" dirty="0"/>
              <a:t>Organize Classrooms Effectively</a:t>
            </a:r>
            <a:endParaRPr lang="en-US" sz="2800" dirty="0"/>
          </a:p>
          <a:p>
            <a:r>
              <a:rPr lang="en-IN" sz="2800" dirty="0"/>
              <a:t>Generate Clear Seating Plans</a:t>
            </a:r>
            <a:endParaRPr lang="en-US" sz="2800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2C321-51E3-42FB-272E-92F2DCF5A9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396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57FFDB-DFEC-7174-F23F-20C423A03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</a:t>
            </a:r>
          </a:p>
        </p:txBody>
      </p:sp>
      <p:pic>
        <p:nvPicPr>
          <p:cNvPr id="8" name="Picture Placeholder 7" descr="Close up of yellow flowers">
            <a:extLst>
              <a:ext uri="{FF2B5EF4-FFF2-40B4-BE49-F238E27FC236}">
                <a16:creationId xmlns:a16="http://schemas.microsoft.com/office/drawing/2014/main" id="{A30CECCA-DB43-3EBC-1ED9-4E7CD74EE3E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5" r="45"/>
          <a:stretch/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3EE20-53E0-0C62-809D-211B05B88043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b="1" dirty="0"/>
              <a:t>Exam Seat Arranger</a:t>
            </a:r>
            <a:r>
              <a:rPr lang="en-US" dirty="0"/>
              <a:t> follows a systematic approach to ensure accurate seat allocation and user-friendly interaction</a:t>
            </a:r>
          </a:p>
          <a:p>
            <a:r>
              <a:rPr lang="en-US" dirty="0"/>
              <a:t>The methodology consists of the following steps: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F090ED-AB65-F860-A6D0-5F6E60E175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28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848C7-243A-AE13-E323-3C71FD8DA6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932688" y="6346518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69194-7927-A259-0C43-EE59A46035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B932E1-C9F6-EDBB-DCA6-39B3A0DCAF21}"/>
              </a:ext>
            </a:extLst>
          </p:cNvPr>
          <p:cNvSpPr txBox="1"/>
          <p:nvPr/>
        </p:nvSpPr>
        <p:spPr>
          <a:xfrm>
            <a:off x="0" y="2163098"/>
            <a:ext cx="1200518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Requirement Analysis :</a:t>
            </a:r>
          </a:p>
          <a:p>
            <a:r>
              <a:rPr lang="en-IN" sz="2400" dirty="0"/>
              <a:t>           </a:t>
            </a:r>
            <a:r>
              <a:rPr lang="en-US" sz="2400" dirty="0"/>
              <a:t>Identify the needs CSV-based student data input, class/bench configuration, and </a:t>
            </a:r>
          </a:p>
          <a:p>
            <a:r>
              <a:rPr lang="en-US" sz="2400" dirty="0"/>
              <a:t>           seat arrangement</a:t>
            </a: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System Design</a:t>
            </a:r>
          </a:p>
          <a:p>
            <a:r>
              <a:rPr lang="en-IN" sz="2400" dirty="0"/>
              <a:t>     	Python Django framework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Data Input &amp; Processing  </a:t>
            </a:r>
          </a:p>
          <a:p>
            <a:r>
              <a:rPr lang="en-US" sz="2400" dirty="0"/>
              <a:t>	Implement functionality to </a:t>
            </a:r>
            <a:r>
              <a:rPr lang="en-US" sz="2400" b="1" dirty="0"/>
              <a:t>upload student details through CSV files</a:t>
            </a:r>
            <a:r>
              <a:rPr lang="en-US" sz="2400" dirty="0"/>
              <a:t> without storing sensitive 	data permanently.</a:t>
            </a: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Seat Allocation Algorithm</a:t>
            </a:r>
          </a:p>
          <a:p>
            <a:r>
              <a:rPr lang="en-US" sz="2400" dirty="0"/>
              <a:t>	Places two students per bench</a:t>
            </a:r>
          </a:p>
          <a:p>
            <a:r>
              <a:rPr lang="en-US" sz="2400" dirty="0"/>
              <a:t>	Ensures students from different departments sit together.</a:t>
            </a:r>
          </a:p>
          <a:p>
            <a:r>
              <a:rPr lang="en-US" sz="2400" dirty="0"/>
              <a:t>	Distributes students evenly across multiple classrooms.</a:t>
            </a:r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      </a:t>
            </a:r>
          </a:p>
          <a:p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98190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51A59-0D86-B758-5926-53062622A5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0A636D-528C-6ACF-127B-F2DC70D56F5D}"/>
              </a:ext>
            </a:extLst>
          </p:cNvPr>
          <p:cNvSpPr txBox="1"/>
          <p:nvPr/>
        </p:nvSpPr>
        <p:spPr>
          <a:xfrm>
            <a:off x="511277" y="2684206"/>
            <a:ext cx="121821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Web Application Development</a:t>
            </a:r>
          </a:p>
          <a:p>
            <a:r>
              <a:rPr lang="en-IN" sz="2400" dirty="0"/>
              <a:t>       I</a:t>
            </a:r>
            <a:r>
              <a:rPr lang="en-US" sz="2400" dirty="0" err="1"/>
              <a:t>mplement</a:t>
            </a:r>
            <a:r>
              <a:rPr lang="en-US" sz="2400" dirty="0"/>
              <a:t> faculty login and authentication</a:t>
            </a:r>
          </a:p>
          <a:p>
            <a:r>
              <a:rPr lang="en-US" sz="2400" dirty="0"/>
              <a:t>       Provide a dashboard for uploading student data and configuring classroom layouts            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Testing &amp; Validation</a:t>
            </a:r>
          </a:p>
          <a:p>
            <a:r>
              <a:rPr lang="en-IN" sz="2400" dirty="0"/>
              <a:t>      </a:t>
            </a:r>
            <a:r>
              <a:rPr lang="en-US" sz="2400" dirty="0"/>
              <a:t>Validate edge cases such as odd number of students, insufficient benches, or missing data.</a:t>
            </a: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Deployment &amp; Usage</a:t>
            </a:r>
          </a:p>
          <a:p>
            <a:r>
              <a:rPr lang="en-IN" sz="2400" dirty="0"/>
              <a:t>           </a:t>
            </a:r>
            <a:r>
              <a:rPr lang="en-US" sz="2400" dirty="0"/>
              <a:t>Deploy the Django application on a local server or cloud platform</a:t>
            </a:r>
            <a:endParaRPr lang="en-IN" sz="2400" dirty="0"/>
          </a:p>
          <a:p>
            <a:r>
              <a:rPr lang="en-IN" sz="240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17481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38C09-FD10-8E39-4C6E-C04680D90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3D9289C-BB83-7820-7012-5FED7A268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3289" y="715100"/>
            <a:ext cx="6419088" cy="1929384"/>
          </a:xfrm>
        </p:spPr>
        <p:txBody>
          <a:bodyPr/>
          <a:lstStyle/>
          <a:p>
            <a:r>
              <a:rPr lang="en-US" dirty="0"/>
              <a:t>Implementation</a:t>
            </a:r>
          </a:p>
        </p:txBody>
      </p:sp>
      <p:pic>
        <p:nvPicPr>
          <p:cNvPr id="8" name="Picture Placeholder 7" descr="Close up of yellow flowers">
            <a:extLst>
              <a:ext uri="{FF2B5EF4-FFF2-40B4-BE49-F238E27FC236}">
                <a16:creationId xmlns:a16="http://schemas.microsoft.com/office/drawing/2014/main" id="{4D3AC9CE-CE53-2867-1488-27B5A7389D2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5" r="45"/>
          <a:stretch/>
        </p:blipFill>
        <p:spPr>
          <a:xfrm>
            <a:off x="6302478" y="3108247"/>
            <a:ext cx="3854244" cy="324810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96A4AA-E51D-5FBC-722E-BA6BFCD4DF1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44130" y="2290915"/>
            <a:ext cx="3765755" cy="4344187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Exam Seat Arranger</a:t>
            </a:r>
            <a:r>
              <a:rPr lang="en-US" dirty="0"/>
              <a:t> system was implemented using </a:t>
            </a:r>
            <a:r>
              <a:rPr lang="en-US" b="1" dirty="0"/>
              <a:t>Python</a:t>
            </a:r>
            <a:r>
              <a:rPr lang="en-US" dirty="0"/>
              <a:t> and </a:t>
            </a:r>
            <a:r>
              <a:rPr lang="en-US" b="1" dirty="0"/>
              <a:t>Django</a:t>
            </a:r>
            <a:r>
              <a:rPr lang="en-US" dirty="0"/>
              <a:t> as the primary framework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7A03B0-B60E-632B-6E91-DFFB634776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261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17967-A9A7-8307-BBBE-54031E094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3FA146-0066-17D7-6A9C-4AFDF7A9593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7" y="2523744"/>
            <a:ext cx="10384241" cy="3694176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IN" b="1" dirty="0"/>
              <a:t>Technology Stack</a:t>
            </a:r>
          </a:p>
          <a:p>
            <a:r>
              <a:rPr lang="en-IN" b="1" dirty="0"/>
              <a:t>        	Backend:</a:t>
            </a:r>
            <a:r>
              <a:rPr lang="en-IN" dirty="0"/>
              <a:t> Python, Django</a:t>
            </a:r>
          </a:p>
          <a:p>
            <a:r>
              <a:rPr lang="en-IN" b="1" dirty="0"/>
              <a:t>	Frontend:</a:t>
            </a:r>
            <a:r>
              <a:rPr lang="en-IN" dirty="0"/>
              <a:t> HTML, CSS, </a:t>
            </a:r>
            <a:r>
              <a:rPr lang="en-IN" dirty="0" err="1"/>
              <a:t>TailwindCSS</a:t>
            </a:r>
            <a:r>
              <a:rPr lang="en-IN" dirty="0"/>
              <a:t> for styling</a:t>
            </a:r>
          </a:p>
          <a:p>
            <a:r>
              <a:rPr lang="en-IN" b="1" dirty="0"/>
              <a:t>	Database:</a:t>
            </a:r>
            <a:r>
              <a:rPr lang="en-IN" dirty="0"/>
              <a:t> SQLite (default in Django)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 CSV Upload &amp; Student Data Processing</a:t>
            </a:r>
          </a:p>
          <a:p>
            <a:r>
              <a:rPr lang="en-US" dirty="0"/>
              <a:t>	Faculty can upload student details in CSV format (roll number, name, 	department, etc.).</a:t>
            </a:r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55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76968-84BC-90D0-EFB0-2E7B1DE2D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6979F-C6F9-B7D8-2363-0848B25C3F4D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Result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54D59-2947-38A2-D900-4B34430BD3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noFill/>
        </p:spPr>
        <p:txBody>
          <a:bodyPr>
            <a:normAutofit fontScale="77500" lnSpcReduction="20000"/>
          </a:bodyPr>
          <a:lstStyle/>
          <a:p>
            <a:r>
              <a:rPr lang="en-US" dirty="0"/>
              <a:t>The </a:t>
            </a:r>
            <a:r>
              <a:rPr lang="en-US" b="1" dirty="0"/>
              <a:t>Exam Seat Arranger</a:t>
            </a:r>
            <a:r>
              <a:rPr lang="en-US" dirty="0"/>
              <a:t> system successfully achieved its goal of automating the exam seating process and reducing the manual workload of faculty members. The results of the implementation are as follows:</a:t>
            </a:r>
          </a:p>
        </p:txBody>
      </p:sp>
      <p:pic>
        <p:nvPicPr>
          <p:cNvPr id="9" name="Picture Placeholder 5" descr="A group of orange flowers">
            <a:extLst>
              <a:ext uri="{FF2B5EF4-FFF2-40B4-BE49-F238E27FC236}">
                <a16:creationId xmlns:a16="http://schemas.microsoft.com/office/drawing/2014/main" id="{F5BF1FA2-FF20-8006-F95D-1B11FED3F3C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501"/>
                    </a14:imgEffect>
                    <a14:imgEffect>
                      <a14:saturation sat="6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4" b="24"/>
          <a:stretch/>
        </p:blipFill>
        <p:spPr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433917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349CE-0EC6-B41A-62AA-115EE4911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C96E87F-EFDC-4538-F6F7-2C715ADC9AE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32688" y="1265903"/>
            <a:ext cx="5276088" cy="1563624"/>
          </a:xfrm>
        </p:spPr>
        <p:txBody>
          <a:bodyPr/>
          <a:lstStyle/>
          <a:p>
            <a:r>
              <a:rPr lang="en-IN" dirty="0"/>
              <a:t>Automated Seat Allocation</a:t>
            </a:r>
          </a:p>
          <a:p>
            <a:r>
              <a:rPr lang="en-IN" dirty="0"/>
              <a:t>Time-Saving</a:t>
            </a:r>
          </a:p>
          <a:p>
            <a:r>
              <a:rPr lang="en-IN" dirty="0"/>
              <a:t>Fair and Systematic Arrangements</a:t>
            </a:r>
          </a:p>
          <a:p>
            <a:r>
              <a:rPr lang="en-IN" dirty="0"/>
              <a:t>User-Friendly Interface</a:t>
            </a:r>
          </a:p>
          <a:p>
            <a:r>
              <a:rPr lang="en-IN" dirty="0"/>
              <a:t>Error Handling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A52C69-1136-04DD-DDAE-000ADDD579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698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BDABD-1848-27C1-A8FD-538124789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bouquet of flowers">
            <a:extLst>
              <a:ext uri="{FF2B5EF4-FFF2-40B4-BE49-F238E27FC236}">
                <a16:creationId xmlns:a16="http://schemas.microsoft.com/office/drawing/2014/main" id="{B2ACBD7E-EE5E-B1C2-FAA0-780ADD0C14C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09000"/>
                    </a14:imgEffect>
                    <a14:imgEffect>
                      <a14:brightnessContrast bright="-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EFB7299-F739-50A8-D7D0-ECB0159E4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9564" y="269129"/>
            <a:ext cx="9144000" cy="150876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C666F7C-CC62-A0FF-AA3C-76C617A5FD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588" y="2019845"/>
            <a:ext cx="11016463" cy="4358014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Exam Seat Arranger</a:t>
            </a:r>
            <a:r>
              <a:rPr lang="en-US" dirty="0"/>
              <a:t> successfully addresses the challenges faced by faculty in manually allocating examination seats for students from multiple departments. By automating the process using </a:t>
            </a:r>
            <a:r>
              <a:rPr lang="en-US" b="1" dirty="0"/>
              <a:t>Python and Django</a:t>
            </a:r>
            <a:r>
              <a:rPr lang="en-US" dirty="0"/>
              <a:t>, the system ensures fairness, accuracy, and efficiency in seating arrangements.</a:t>
            </a:r>
          </a:p>
        </p:txBody>
      </p:sp>
      <p:sp>
        <p:nvSpPr>
          <p:cNvPr id="12" name="Plaque 11">
            <a:extLst>
              <a:ext uri="{FF2B5EF4-FFF2-40B4-BE49-F238E27FC236}">
                <a16:creationId xmlns:a16="http://schemas.microsoft.com/office/drawing/2014/main" id="{FDBBB6B7-4F4B-3402-2A7B-5EC86D993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0802" y="480141"/>
            <a:ext cx="11537572" cy="967601"/>
          </a:xfrm>
          <a:prstGeom prst="plaque">
            <a:avLst>
              <a:gd name="adj" fmla="val 7602"/>
            </a:avLst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52B231-2F51-91CB-0E28-1B981BA96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33949" y="3605726"/>
            <a:ext cx="53213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2EFA8F2-0D32-14F0-F3EB-DD9778422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560" y="3464902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39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bouquet of flowers">
            <a:extLst>
              <a:ext uri="{FF2B5EF4-FFF2-40B4-BE49-F238E27FC236}">
                <a16:creationId xmlns:a16="http://schemas.microsoft.com/office/drawing/2014/main" id="{8AB2ECDC-2C97-9031-6EF9-11EF690976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/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697D649-277C-A20F-F588-7EA2B85B12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6EF8E06F-4153-981B-474D-3D483B6F4F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FIROS MUHAMMED ILIYAS</a:t>
            </a:r>
          </a:p>
          <a:p>
            <a:r>
              <a:rPr lang="en-US" dirty="0"/>
              <a:t>MCA S3 23</a:t>
            </a:r>
          </a:p>
          <a:p>
            <a:r>
              <a:rPr lang="en-US" dirty="0"/>
              <a:t>ICET 						</a:t>
            </a:r>
          </a:p>
          <a:p>
            <a:r>
              <a:rPr lang="en-US" dirty="0"/>
              <a:t>…………………………………………………………….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502E84-5063-F43E-AC45-9F5CEAA69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701285" y="3209689"/>
            <a:ext cx="3624541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DE43C393-A639-F47D-D8A8-BAF189C58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9787" y="3066998"/>
            <a:ext cx="972078" cy="28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04083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0">
      <a:dk1>
        <a:srgbClr val="000000"/>
      </a:dk1>
      <a:lt1>
        <a:srgbClr val="FFFFFF"/>
      </a:lt1>
      <a:dk2>
        <a:srgbClr val="CAD8D6"/>
      </a:dk2>
      <a:lt2>
        <a:srgbClr val="E7E6E6"/>
      </a:lt2>
      <a:accent1>
        <a:srgbClr val="7E8679"/>
      </a:accent1>
      <a:accent2>
        <a:srgbClr val="72292A"/>
      </a:accent2>
      <a:accent3>
        <a:srgbClr val="4A3A1C"/>
      </a:accent3>
      <a:accent4>
        <a:srgbClr val="E47D60"/>
      </a:accent4>
      <a:accent5>
        <a:srgbClr val="CEBBAF"/>
      </a:accent5>
      <a:accent6>
        <a:srgbClr val="E8DAC4"/>
      </a:accent6>
      <a:hlink>
        <a:srgbClr val="3968F6"/>
      </a:hlink>
      <a:folHlink>
        <a:srgbClr val="954F72"/>
      </a:folHlink>
    </a:clrScheme>
    <a:fontScheme name="Custom 23">
      <a:majorFont>
        <a:latin typeface="Baskerville Old Face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loral flourish_win32_CP_v3" id="{3BF332BF-22B8-49D8-950E-E9BBBBF59833}" vid="{E4E7F1DC-3AF4-489F-A450-0CED11A8EB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84BFC8-02DA-464F-AE97-4951BE47415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915FD3-F777-4046-A12C-BE3860E324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E6BC5B-F32E-483D-A6CB-100D6BCB78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524</Words>
  <Application>Microsoft Office PowerPoint</Application>
  <PresentationFormat>Widescreen</PresentationFormat>
  <Paragraphs>84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Baskerville Old Face</vt:lpstr>
      <vt:lpstr>Calibri</vt:lpstr>
      <vt:lpstr>Gill Sans Nova Light</vt:lpstr>
      <vt:lpstr>Wingdings</vt:lpstr>
      <vt:lpstr>Custom</vt:lpstr>
      <vt:lpstr>TITLE  PRESENTATION</vt:lpstr>
      <vt:lpstr>Guided By</vt:lpstr>
      <vt:lpstr>EXAM  SEAT ARRANGER PYTHON- DJANGO</vt:lpstr>
      <vt:lpstr>Introduction</vt:lpstr>
      <vt:lpstr>Introduction</vt:lpstr>
      <vt:lpstr>Problem Statement</vt:lpstr>
      <vt:lpstr>Problem Statement</vt:lpstr>
      <vt:lpstr>Objectives</vt:lpstr>
      <vt:lpstr>Methodology: </vt:lpstr>
      <vt:lpstr>PowerPoint Presentation</vt:lpstr>
      <vt:lpstr>PowerPoint Presentation</vt:lpstr>
      <vt:lpstr>Implementation</vt:lpstr>
      <vt:lpstr>PowerPoint Presentation</vt:lpstr>
      <vt:lpstr>Result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firos muhammed iliyas</dc:creator>
  <cp:lastModifiedBy>firos muhammed iliyas</cp:lastModifiedBy>
  <cp:revision>2</cp:revision>
  <dcterms:created xsi:type="dcterms:W3CDTF">2025-08-19T07:24:50Z</dcterms:created>
  <dcterms:modified xsi:type="dcterms:W3CDTF">2025-08-19T09:21:44Z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